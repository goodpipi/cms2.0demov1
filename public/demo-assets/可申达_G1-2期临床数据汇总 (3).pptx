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风险降低 %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eGFR&lt;15</c:v>
                </c:pt>
                <c:pt idx="1">
                  <c:v>CKD G5</c:v>
                </c:pt>
                <c:pt idx="2">
                  <c:v>eGFR↓40%</c:v>
                </c:pt>
                <c:pt idx="3">
                  <c:v>ESKD</c:v>
                </c:pt>
                <c:pt idx="4">
                  <c:v>肾脏复合终点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80</c:v>
                </c:pt>
                <c:pt idx="2">
                  <c:v>52</c:v>
                </c:pt>
                <c:pt idx="3">
                  <c:v>67</c:v>
                </c:pt>
                <c:pt idx="4">
                  <c:v>52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000000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 cmpd="sng" algn="ctr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307f823-88fa-4468-880e-2bce345a1339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非奈利酮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中国亚组</c:v>
                </c:pt>
                <c:pt idx="1">
                  <c:v>全球总体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1.13</c:v>
                </c:pt>
                <c:pt idx="1">
                  <c:v>1.13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安慰剂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中国亚组</c:v>
                </c:pt>
                <c:pt idx="1">
                  <c:v>全球总体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2.25</c:v>
                </c:pt>
                <c:pt idx="1">
                  <c:v>2.37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000000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+mn-ea"/>
              <a:cs typeface="微软雅黑" panose="020B0503020204020204" pitchFamily="34" charset="-122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8fda6dc-298b-45a2-83ad-ebcb64b11a0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非奈利酮 vs 安慰剂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1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中国亚组</c:v>
                </c:pt>
                <c:pt idx="1">
                  <c:v>全球总体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</c:v>
                </c:pt>
                <c:pt idx="1">
                  <c:v>32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000000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 cmpd="sng" algn="ctr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aed3be7-a752-4fcd-bba0-779cae4935d2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相对风险降低 %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1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HHF (LVH亚组)</c:v>
                </c:pt>
                <c:pt idx="1">
                  <c:v>CV死亡 (FIGARO-DKD)</c:v>
                </c:pt>
                <c:pt idx="2">
                  <c:v>HHF (FIDELITY eGFR≥60)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</c:v>
                </c:pt>
                <c:pt idx="1">
                  <c:v>32</c:v>
                </c:pt>
                <c:pt idx="2">
                  <c:v>31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</c:scaling>
        <c:delete val="0"/>
        <c:axPos val="b"/>
        <c:majorGridlines>
          <c:spPr>
            <a:ln w="6350" cap="flat" cmpd="sng" algn="ctr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a9d2826-f7b1-4de7-a818-eb4c652a4cef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非奈利酮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300" b="1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高钾血症 AE</c:v>
                </c:pt>
                <c:pt idx="1">
                  <c:v>永久停药率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</c:v>
                </c:pt>
                <c:pt idx="1">
                  <c:v>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安慰剂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300" b="1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高钾血症 AE</c:v>
                </c:pt>
                <c:pt idx="1">
                  <c:v>永久停药率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</c:v>
                </c:pt>
                <c:pt idx="1">
                  <c:v>0.3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000000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"/>
        </c:scaling>
        <c:delete val="0"/>
        <c:axPos val="l"/>
        <c:majorGridlines>
          <c:spPr>
            <a:ln w="6350" cap="flat" cmpd="sng" algn="ctr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+mn-ea"/>
              <a:cs typeface="微软雅黑" panose="020B0503020204020204" pitchFamily="34" charset="-122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1278bd1-84e7-4931-8649-76f561ec9cb2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4" name="Shape 2"/>
          <p:cNvSpPr/>
          <p:nvPr/>
        </p:nvSpPr>
        <p:spPr>
          <a:xfrm>
            <a:off x="274320" y="5029200"/>
            <a:ext cx="1463040" cy="1463040"/>
          </a:xfrm>
          <a:prstGeom prst="rect">
            <a:avLst/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892040"/>
            <a:ext cx="1737360" cy="1737360"/>
          </a:xfrm>
          <a:prstGeom prst="rect">
            <a:avLst/>
          </a:prstGeom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54880"/>
            <a:ext cx="2011680" cy="2011680"/>
          </a:xfrm>
          <a:prstGeom prst="rect">
            <a:avLst/>
          </a:prstGeom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4617720"/>
            <a:ext cx="2286000" cy="2286000"/>
          </a:xfrm>
          <a:prstGeom prst="rect">
            <a:avLst/>
          </a:prstGeom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760720"/>
            <a:ext cx="548640" cy="14630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" name="Shape 7"/>
          <p:cNvSpPr/>
          <p:nvPr/>
        </p:nvSpPr>
        <p:spPr>
          <a:xfrm>
            <a:off x="658368" y="5559552"/>
            <a:ext cx="146304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" name="Shape 8"/>
          <p:cNvSpPr/>
          <p:nvPr/>
        </p:nvSpPr>
        <p:spPr>
          <a:xfrm>
            <a:off x="365760" y="457200"/>
            <a:ext cx="109728" cy="109728"/>
          </a:xfrm>
          <a:prstGeom prst="rect">
            <a:avLst/>
          </a:prstGeom>
          <a:solidFill>
            <a:srgbClr val="FFFFFF">
              <a:alpha val="5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822960" y="611088"/>
            <a:ext cx="109728" cy="109728"/>
          </a:xfrm>
          <a:prstGeom prst="rect">
            <a:avLst/>
          </a:prstGeom>
          <a:solidFill>
            <a:srgbClr val="FFFFFF">
              <a:alpha val="5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1280160" y="623492"/>
            <a:ext cx="109728" cy="109728"/>
          </a:xfrm>
          <a:prstGeom prst="rect">
            <a:avLst/>
          </a:prstGeom>
          <a:solidFill>
            <a:srgbClr val="FFFFFF">
              <a:alpha val="5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1737360" y="483008"/>
            <a:ext cx="109728" cy="109728"/>
          </a:xfrm>
          <a:prstGeom prst="rect">
            <a:avLst/>
          </a:prstGeom>
          <a:solidFill>
            <a:srgbClr val="FFFFFF">
              <a:alpha val="5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2194560" y="318796"/>
            <a:ext cx="109728" cy="109728"/>
          </a:xfrm>
          <a:prstGeom prst="rect">
            <a:avLst/>
          </a:prstGeom>
          <a:solidFill>
            <a:srgbClr val="FFFFFF">
              <a:alpha val="5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2651760" y="281832"/>
            <a:ext cx="109728" cy="109728"/>
          </a:xfrm>
          <a:prstGeom prst="rect">
            <a:avLst/>
          </a:prstGeom>
          <a:solidFill>
            <a:srgbClr val="FFFFFF">
              <a:alpha val="5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3108960" y="406100"/>
            <a:ext cx="109728" cy="109728"/>
          </a:xfrm>
          <a:prstGeom prst="rect">
            <a:avLst/>
          </a:prstGeom>
          <a:solidFill>
            <a:srgbClr val="FFFFFF">
              <a:alpha val="5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3566160" y="577350"/>
            <a:ext cx="109728" cy="109728"/>
          </a:xfrm>
          <a:prstGeom prst="rect">
            <a:avLst/>
          </a:prstGeom>
          <a:solidFill>
            <a:srgbClr val="FFFFFF">
              <a:alpha val="5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457200" y="1828800"/>
            <a:ext cx="41148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可申达</a:t>
            </a:r>
            <a:endParaRPr lang="en-US" sz="8800" dirty="0"/>
          </a:p>
        </p:txBody>
      </p:sp>
      <p:sp>
        <p:nvSpPr>
          <p:cNvPr id="19" name="Text 17"/>
          <p:cNvSpPr/>
          <p:nvPr/>
        </p:nvSpPr>
        <p:spPr>
          <a:xfrm>
            <a:off x="502920" y="310896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FINERENONE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02920" y="3611880"/>
            <a:ext cx="548640" cy="457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502920" y="374904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非奈利酮 · 非甾体盐皮质激素受体拮抗剂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120640" y="457200"/>
            <a:ext cx="6675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G1-2期 CKD 合并 T2D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120640" y="914400"/>
            <a:ext cx="66751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临床数据汇总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120640" y="2057400"/>
            <a:ext cx="914400" cy="73152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26" name="Text 23"/>
          <p:cNvSpPr/>
          <p:nvPr/>
        </p:nvSpPr>
        <p:spPr>
          <a:xfrm>
            <a:off x="5120640" y="2240280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FIGARO-DKD · FIDELITY · 中国亚组分析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120640" y="393192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120640" y="3931920"/>
            <a:ext cx="73152" cy="1005840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29" name="Text 26"/>
          <p:cNvSpPr/>
          <p:nvPr/>
        </p:nvSpPr>
        <p:spPr>
          <a:xfrm>
            <a:off x="5303520" y="402336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↓52%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6812280" y="4160520"/>
            <a:ext cx="1417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eGFR↓40%复合终点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503920" y="393192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503920" y="3931920"/>
            <a:ext cx="73152" cy="1005840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33" name="Text 30"/>
          <p:cNvSpPr/>
          <p:nvPr/>
        </p:nvSpPr>
        <p:spPr>
          <a:xfrm>
            <a:off x="8686800" y="402336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↓80%</a:t>
            </a:r>
            <a:endParaRPr lang="en-US" sz="3000" dirty="0"/>
          </a:p>
        </p:txBody>
      </p:sp>
      <p:sp>
        <p:nvSpPr>
          <p:cNvPr id="34" name="Text 31"/>
          <p:cNvSpPr/>
          <p:nvPr/>
        </p:nvSpPr>
        <p:spPr>
          <a:xfrm>
            <a:off x="10195560" y="4160520"/>
            <a:ext cx="1417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进展至CKD G5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120640" y="51206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120640" y="5120640"/>
            <a:ext cx="73152" cy="1005840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37" name="Text 34"/>
          <p:cNvSpPr/>
          <p:nvPr/>
        </p:nvSpPr>
        <p:spPr>
          <a:xfrm>
            <a:off x="5303520" y="521208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↓32%</a:t>
            </a:r>
            <a:endParaRPr lang="en-US" sz="3000" dirty="0"/>
          </a:p>
        </p:txBody>
      </p:sp>
      <p:sp>
        <p:nvSpPr>
          <p:cNvPr id="38" name="Text 35"/>
          <p:cNvSpPr/>
          <p:nvPr/>
        </p:nvSpPr>
        <p:spPr>
          <a:xfrm>
            <a:off x="6812280" y="5349240"/>
            <a:ext cx="1417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心血管死亡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8503920" y="51206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503920" y="5120640"/>
            <a:ext cx="73152" cy="1005840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41" name="Text 38"/>
          <p:cNvSpPr/>
          <p:nvPr/>
        </p:nvSpPr>
        <p:spPr>
          <a:xfrm>
            <a:off x="8686800" y="521208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0.6%</a:t>
            </a:r>
            <a:endParaRPr lang="en-US" sz="3000" dirty="0"/>
          </a:p>
        </p:txBody>
      </p:sp>
      <p:sp>
        <p:nvSpPr>
          <p:cNvPr id="42" name="Text 39"/>
          <p:cNvSpPr/>
          <p:nvPr/>
        </p:nvSpPr>
        <p:spPr>
          <a:xfrm>
            <a:off x="10195560" y="5349240"/>
            <a:ext cx="1417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G1-2期停药率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5120640" y="63093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Bayer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4" name="Shape 2"/>
          <p:cNvSpPr/>
          <p:nvPr/>
        </p:nvSpPr>
        <p:spPr>
          <a:xfrm>
            <a:off x="11688775" y="292608"/>
            <a:ext cx="292608" cy="91440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5" name="Shape 3"/>
          <p:cNvSpPr/>
          <p:nvPr/>
        </p:nvSpPr>
        <p:spPr>
          <a:xfrm>
            <a:off x="11771071" y="210312"/>
            <a:ext cx="91440" cy="292608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6" name="Text 4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可申达 (Finerenone) · G1-2期 临床数据汇总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64008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3657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肾脏复合终点 · 风险降低幅度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88720" y="8686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FIGARO-DKD 中国亚组 (n=325) · 相对风险降低 (%)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188720" y="1234440"/>
            <a:ext cx="548640" cy="36576"/>
          </a:xfrm>
          <a:prstGeom prst="rect">
            <a:avLst/>
          </a:prstGeom>
          <a:solidFill>
            <a:srgbClr val="C8102E"/>
          </a:solidFill>
        </p:spPr>
      </p:sp>
      <p:graphicFrame>
        <p:nvGraphicFramePr>
          <p:cNvPr id="12" name="Chart 0"/>
          <p:cNvGraphicFramePr/>
          <p:nvPr/>
        </p:nvGraphicFramePr>
        <p:xfrm>
          <a:off x="457200" y="1463040"/>
          <a:ext cx="758952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8321040" y="1463040"/>
            <a:ext cx="3383280" cy="4754880"/>
          </a:xfrm>
          <a:prstGeom prst="roundRect">
            <a:avLst>
              <a:gd name="adj" fmla="val 2703"/>
            </a:avLst>
          </a:prstGeom>
          <a:solidFill>
            <a:srgbClr val="F8D7DA"/>
          </a:solidFill>
        </p:spPr>
      </p:sp>
      <p:sp>
        <p:nvSpPr>
          <p:cNvPr id="14" name="Shape 10"/>
          <p:cNvSpPr/>
          <p:nvPr/>
        </p:nvSpPr>
        <p:spPr>
          <a:xfrm>
            <a:off x="8321040" y="1463040"/>
            <a:ext cx="91440" cy="4754880"/>
          </a:xfrm>
          <a:prstGeom prst="rect">
            <a:avLst/>
          </a:prstGeom>
          <a:solidFill>
            <a:srgbClr val="C8102E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1554480"/>
            <a:ext cx="1188720" cy="1554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03920" y="320040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核心发现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503920" y="3611880"/>
            <a:ext cx="310896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92%
</a:t>
            </a:r>
            <a:r>
              <a:rPr lang="en-US" sz="11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eGFR&lt;15 风险降低
</a:t>
            </a: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325 例 中国亚组
</a:t>
            </a:r>
            <a:r>
              <a:rPr lang="en-US" sz="1300" b="1" dirty="0">
                <a:solidFill>
                  <a:srgbClr val="8B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P&lt;0.001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4" name="Shape 2"/>
          <p:cNvSpPr/>
          <p:nvPr/>
        </p:nvSpPr>
        <p:spPr>
          <a:xfrm>
            <a:off x="11688775" y="292608"/>
            <a:ext cx="292608" cy="91440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5" name="Shape 3"/>
          <p:cNvSpPr/>
          <p:nvPr/>
        </p:nvSpPr>
        <p:spPr>
          <a:xfrm>
            <a:off x="11771071" y="210312"/>
            <a:ext cx="91440" cy="292608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6" name="Text 4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可申达 (Finerenone) · G1-2期 临床数据汇总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82296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6576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肾功能保护 · eGFR斜率 与 UACR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371600" y="8686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治疗组 vs 安慰剂组对比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371600" y="1234440"/>
            <a:ext cx="548640" cy="36576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12" name="Text 9"/>
          <p:cNvSpPr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eGFR 年下降速率</a:t>
            </a:r>
            <a:endParaRPr lang="en-US" sz="13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457200" y="1874520"/>
          <a:ext cx="55778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" name="Text 10"/>
          <p:cNvSpPr/>
          <p:nvPr/>
        </p:nvSpPr>
        <p:spPr>
          <a:xfrm>
            <a:off x="6263640" y="146304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UACR 降低幅度 (%)</a:t>
            </a:r>
            <a:endParaRPr lang="en-US" sz="1300" dirty="0"/>
          </a:p>
        </p:txBody>
      </p:sp>
      <p:graphicFrame>
        <p:nvGraphicFramePr>
          <p:cNvPr id="15" name="Chart 1"/>
          <p:cNvGraphicFramePr/>
          <p:nvPr/>
        </p:nvGraphicFramePr>
        <p:xfrm>
          <a:off x="6263640" y="1874520"/>
          <a:ext cx="54864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4" name="Shape 2"/>
          <p:cNvSpPr/>
          <p:nvPr/>
        </p:nvSpPr>
        <p:spPr>
          <a:xfrm>
            <a:off x="11688775" y="292608"/>
            <a:ext cx="292608" cy="91440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5" name="Shape 3"/>
          <p:cNvSpPr/>
          <p:nvPr/>
        </p:nvSpPr>
        <p:spPr>
          <a:xfrm>
            <a:off x="11771071" y="210312"/>
            <a:ext cx="91440" cy="292608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6" name="Text 4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可申达 (Finerenone) · G1-2期 临床数据汇总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00584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3657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心血管获益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554480" y="8686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HHF · CV死亡 · 不同亚组分析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554480" y="1234440"/>
            <a:ext cx="548640" cy="36576"/>
          </a:xfrm>
          <a:prstGeom prst="rect">
            <a:avLst/>
          </a:prstGeom>
          <a:solidFill>
            <a:srgbClr val="C8102E"/>
          </a:solidFill>
        </p:spPr>
      </p:sp>
      <p:graphicFrame>
        <p:nvGraphicFramePr>
          <p:cNvPr id="12" name="Chart 0"/>
          <p:cNvGraphicFramePr/>
          <p:nvPr/>
        </p:nvGraphicFramePr>
        <p:xfrm>
          <a:off x="457200" y="1554480"/>
          <a:ext cx="75895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8321040" y="155448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21040" y="1554480"/>
            <a:ext cx="91440" cy="1371600"/>
          </a:xfrm>
          <a:prstGeom prst="rect">
            <a:avLst/>
          </a:prstGeom>
          <a:solidFill>
            <a:srgbClr val="C8102E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920240"/>
            <a:ext cx="64008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35440" y="164592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HR 0.34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9235440" y="224028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LVH亚组 HHF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235440" y="251460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95% CI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321040" y="31089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321040" y="3108960"/>
            <a:ext cx="91440" cy="1371600"/>
          </a:xfrm>
          <a:prstGeom prst="rect">
            <a:avLst/>
          </a:prstGeom>
          <a:solidFill>
            <a:srgbClr val="C8102E"/>
          </a:solidFill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3474720"/>
            <a:ext cx="64008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35440" y="320040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HR 0.68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9235440" y="379476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CV死亡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235440" y="406908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FIGARO-DKD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8321040" y="46634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321040" y="4663440"/>
            <a:ext cx="91440" cy="1371600"/>
          </a:xfrm>
          <a:prstGeom prst="rect">
            <a:avLst/>
          </a:prstGeom>
          <a:solidFill>
            <a:srgbClr val="C8102E"/>
          </a:solidFill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5029200"/>
            <a:ext cx="640080" cy="5486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235440" y="475488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HR 0.69</a:t>
            </a:r>
            <a:endParaRPr lang="en-US" sz="2600" dirty="0"/>
          </a:p>
        </p:txBody>
      </p:sp>
      <p:sp>
        <p:nvSpPr>
          <p:cNvPr id="29" name="Text 22"/>
          <p:cNvSpPr/>
          <p:nvPr/>
        </p:nvSpPr>
        <p:spPr>
          <a:xfrm>
            <a:off x="9235440" y="534924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HHF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9235440" y="562356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eGFR≥60亚组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4" name="Shape 2"/>
          <p:cNvSpPr/>
          <p:nvPr/>
        </p:nvSpPr>
        <p:spPr>
          <a:xfrm>
            <a:off x="11688775" y="292608"/>
            <a:ext cx="292608" cy="91440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5" name="Shape 3"/>
          <p:cNvSpPr/>
          <p:nvPr/>
        </p:nvSpPr>
        <p:spPr>
          <a:xfrm>
            <a:off x="11771071" y="210312"/>
            <a:ext cx="91440" cy="292608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6" name="Text 4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可申达 (Finerenone) · G1-2期 临床数据汇总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82296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6576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安全性 · G1-2期 表现优异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371600" y="8686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高钾血症及永久停药率 · 非奈利酮 vs 安慰剂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371600" y="1234440"/>
            <a:ext cx="548640" cy="36576"/>
          </a:xfrm>
          <a:prstGeom prst="rect">
            <a:avLst/>
          </a:prstGeom>
          <a:solidFill>
            <a:srgbClr val="C8102E"/>
          </a:solidFill>
        </p:spPr>
      </p:sp>
      <p:graphicFrame>
        <p:nvGraphicFramePr>
          <p:cNvPr id="12" name="Chart 0"/>
          <p:cNvGraphicFramePr/>
          <p:nvPr/>
        </p:nvGraphicFramePr>
        <p:xfrm>
          <a:off x="457200" y="1554480"/>
          <a:ext cx="685800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7589520" y="1554480"/>
            <a:ext cx="4114800" cy="4663440"/>
          </a:xfrm>
          <a:prstGeom prst="roundRect">
            <a:avLst>
              <a:gd name="adj" fmla="val 2222"/>
            </a:avLst>
          </a:prstGeom>
          <a:solidFill>
            <a:srgbClr val="F8D7DA"/>
          </a:solidFill>
        </p:spPr>
      </p:sp>
      <p:sp>
        <p:nvSpPr>
          <p:cNvPr id="14" name="Shape 10"/>
          <p:cNvSpPr/>
          <p:nvPr/>
        </p:nvSpPr>
        <p:spPr>
          <a:xfrm>
            <a:off x="7589520" y="1554480"/>
            <a:ext cx="91440" cy="4663440"/>
          </a:xfrm>
          <a:prstGeom prst="rect">
            <a:avLst/>
          </a:prstGeom>
          <a:solidFill>
            <a:srgbClr val="C8102E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691640"/>
            <a:ext cx="1371600" cy="1371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0" y="310896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安全性结论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772400" y="3520440"/>
            <a:ext cx="384048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</a:t>
            </a: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高钾血症发生率低
</a:t>
            </a: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仅 0.6% vs 0.3%
</a:t>
            </a:r>
            <a:r>
              <a:rPr lang="en-US" sz="12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</a:t>
            </a: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停药率低，耐受性良好
</a:t>
            </a:r>
            <a:r>
              <a:rPr lang="en-US" sz="12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</a:t>
            </a: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适合早期干预
</a:t>
            </a: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延缓CKD进展，保护心肾
</a:t>
            </a:r>
            <a:r>
              <a:rPr lang="en-US" sz="12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</a:t>
            </a: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循证依据充分
</a:t>
            </a: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FIGARO-DKD / FIDELITY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</Words>
  <Application>WPS 演示</Application>
  <PresentationFormat>On-screen Show (16:9)</PresentationFormat>
  <Paragraphs>92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屁屁今天捡到小狗了么</cp:lastModifiedBy>
  <cp:revision>2</cp:revision>
  <dcterms:created xsi:type="dcterms:W3CDTF">2026-06-08T15:38:00Z</dcterms:created>
  <dcterms:modified xsi:type="dcterms:W3CDTF">2026-06-08T15:42:46Z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A6FEEBD55AAC4D53AEC7C3BB12A08CE1_12</vt:lpwstr>
  </property>
  <property fmtid="{D5CDD505-2E9C-101B-9397-08002B2CF9AE}" pid="3" name="KSOProductBuildVer">
    <vt:lpwstr>2052-12.1.0.24034</vt:lpwstr>
  </property>
</Properties>
</file>